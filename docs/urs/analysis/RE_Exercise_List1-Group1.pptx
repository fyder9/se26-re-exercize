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2"/>
    <p:restoredTop sz="94610"/>
  </p:normalViewPr>
  <p:slideViewPr>
    <p:cSldViewPr snapToGrid="0" snapToObjects="1">
      <p:cViewPr varScale="1">
        <p:scale>
          <a:sx n="209" d="100"/>
          <a:sy n="209" d="100"/>
        </p:scale>
        <p:origin x="184"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308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371600"/>
            <a:ext cx="7680960" cy="1371600"/>
          </a:xfrm>
          <a:prstGeom prst="rect">
            <a:avLst/>
          </a:prstGeom>
          <a:noFill/>
          <a:ln/>
        </p:spPr>
        <p:txBody>
          <a:bodyPr wrap="square" rtlCol="0" anchor="ctr"/>
          <a:lstStyle/>
          <a:p>
            <a:pPr marL="0" indent="0">
              <a:buNone/>
            </a:pPr>
            <a:r>
              <a:rPr lang="en-US" sz="3600" b="1" dirty="0">
                <a:solidFill>
                  <a:srgbClr val="FFFFFF"/>
                </a:solidFill>
                <a:latin typeface="Arial" pitchFamily="34" charset="0"/>
                <a:ea typeface="Arial" pitchFamily="34" charset="-122"/>
                <a:cs typeface="Arial" pitchFamily="34" charset="-120"/>
              </a:rPr>
              <a:t>RE - Requirement Engineering</a:t>
            </a:r>
            <a:endParaRPr lang="en-US" sz="3600" dirty="0"/>
          </a:p>
        </p:txBody>
      </p:sp>
      <p:sp>
        <p:nvSpPr>
          <p:cNvPr id="3" name="Text 1"/>
          <p:cNvSpPr/>
          <p:nvPr/>
        </p:nvSpPr>
        <p:spPr>
          <a:xfrm>
            <a:off x="731520" y="2743200"/>
            <a:ext cx="7680960" cy="731520"/>
          </a:xfrm>
          <a:prstGeom prst="rect">
            <a:avLst/>
          </a:prstGeom>
          <a:noFill/>
          <a:ln/>
        </p:spPr>
        <p:txBody>
          <a:bodyPr wrap="square" rtlCol="0" anchor="ctr"/>
          <a:lstStyle/>
          <a:p>
            <a:pPr marL="0" indent="0">
              <a:buNone/>
            </a:pPr>
            <a:r>
              <a:rPr lang="en-US" sz="2000" i="1" dirty="0">
                <a:solidFill>
                  <a:srgbClr val="CADCFC"/>
                </a:solidFill>
                <a:latin typeface="Arial" pitchFamily="34" charset="0"/>
                <a:ea typeface="Arial" pitchFamily="34" charset="-122"/>
                <a:cs typeface="Arial" pitchFamily="34" charset="-120"/>
              </a:rPr>
              <a:t>Exercise - List 1</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Text 2"/>
          <p:cNvSpPr/>
          <p:nvPr/>
        </p:nvSpPr>
        <p:spPr>
          <a:xfrm>
            <a:off x="457200" y="914400"/>
            <a:ext cx="8229600" cy="457200"/>
          </a:xfrm>
          <a:prstGeom prst="rect">
            <a:avLst/>
          </a:prstGeom>
          <a:noFill/>
          <a:ln/>
        </p:spPr>
        <p:txBody>
          <a:bodyPr wrap="square" rtlCol="0" anchor="ctr"/>
          <a:lstStyle/>
          <a:p>
            <a:pPr marL="0" indent="0">
              <a:buNone/>
            </a:pPr>
            <a:r>
              <a:rPr lang="en-US" sz="2000" b="1" dirty="0">
                <a:solidFill>
                  <a:srgbClr val="1E2761"/>
                </a:solidFill>
                <a:latin typeface="Arial" pitchFamily="34" charset="0"/>
                <a:ea typeface="Arial" pitchFamily="34" charset="-122"/>
                <a:cs typeface="Arial" pitchFamily="34" charset="-120"/>
              </a:rPr>
              <a:t>General "practical" rule</a:t>
            </a:r>
            <a:endParaRPr lang="en-US" sz="2000" dirty="0"/>
          </a:p>
        </p:txBody>
      </p:sp>
      <p:sp>
        <p:nvSpPr>
          <p:cNvPr id="5" name="Text 3"/>
          <p:cNvSpPr/>
          <p:nvPr/>
        </p:nvSpPr>
        <p:spPr>
          <a:xfrm>
            <a:off x="457200" y="1463040"/>
            <a:ext cx="8229600" cy="457200"/>
          </a:xfrm>
          <a:prstGeom prst="rect">
            <a:avLst/>
          </a:prstGeom>
          <a:noFill/>
          <a:ln/>
        </p:spPr>
        <p:txBody>
          <a:bodyPr wrap="square" rtlCol="0" anchor="ctr"/>
          <a:lstStyle/>
          <a:p>
            <a:pPr marL="0" indent="0">
              <a:buNone/>
            </a:pPr>
            <a:r>
              <a:rPr lang="en-US" sz="1400" dirty="0">
                <a:solidFill>
                  <a:srgbClr val="333333"/>
                </a:solidFill>
                <a:latin typeface="Arial" pitchFamily="34" charset="0"/>
                <a:ea typeface="Arial" pitchFamily="34" charset="-122"/>
                <a:cs typeface="Arial" pitchFamily="34" charset="-120"/>
              </a:rPr>
              <a:t>The system shall + precise verb + precise object + precise metric + condition/threshold + output</a:t>
            </a:r>
            <a:endParaRPr lang="en-US" sz="1400" dirty="0"/>
          </a:p>
        </p:txBody>
      </p:sp>
      <p:sp>
        <p:nvSpPr>
          <p:cNvPr id="6" name="Text 4"/>
          <p:cNvSpPr/>
          <p:nvPr/>
        </p:nvSpPr>
        <p:spPr>
          <a:xfrm>
            <a:off x="457200" y="2103120"/>
            <a:ext cx="8229600" cy="365760"/>
          </a:xfrm>
          <a:prstGeom prst="rect">
            <a:avLst/>
          </a:prstGeom>
          <a:noFill/>
          <a:ln/>
        </p:spPr>
        <p:txBody>
          <a:bodyPr wrap="square" rtlCol="0" anchor="ctr"/>
          <a:lstStyle/>
          <a:p>
            <a:pPr marL="0" indent="0">
              <a:buNone/>
            </a:pPr>
            <a:r>
              <a:rPr lang="en-US" sz="1600" b="1" dirty="0">
                <a:solidFill>
                  <a:srgbClr val="1E2761"/>
                </a:solidFill>
                <a:latin typeface="Arial" pitchFamily="34" charset="0"/>
                <a:ea typeface="Arial" pitchFamily="34" charset="-122"/>
                <a:cs typeface="Arial" pitchFamily="34" charset="-120"/>
              </a:rPr>
              <a:t>Example</a:t>
            </a:r>
            <a:endParaRPr lang="en-US" sz="1600" dirty="0"/>
          </a:p>
        </p:txBody>
      </p:sp>
      <p:sp>
        <p:nvSpPr>
          <p:cNvPr id="7" name="Text 5"/>
          <p:cNvSpPr/>
          <p:nvPr/>
        </p:nvSpPr>
        <p:spPr>
          <a:xfrm>
            <a:off x="457200" y="2468880"/>
            <a:ext cx="8229600" cy="365760"/>
          </a:xfrm>
          <a:prstGeom prst="rect">
            <a:avLst/>
          </a:prstGeom>
          <a:noFill/>
          <a:ln/>
        </p:spPr>
        <p:txBody>
          <a:bodyPr wrap="square" rtlCol="0" anchor="ctr"/>
          <a:lstStyle/>
          <a:p>
            <a:pPr marL="0" indent="0">
              <a:buNone/>
            </a:pPr>
            <a:r>
              <a:rPr lang="en-US" sz="1400" i="1" dirty="0">
                <a:solidFill>
                  <a:srgbClr val="333333"/>
                </a:solidFill>
                <a:latin typeface="Arial" pitchFamily="34" charset="0"/>
                <a:ea typeface="Arial" pitchFamily="34" charset="-122"/>
                <a:cs typeface="Arial" pitchFamily="34" charset="-120"/>
              </a:rPr>
              <a:t>The system shall highlight all sentences longer than 15 words in the analysis report.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 Readability: the system have to check sentence length and its complexity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"check" – generic; check for what? evaluate / measure / flag...?</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"sentence length" – what is sentence length? number of words? characters? subordinate clauses?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"complexity" – which kind of complexity? lexical? syntactic? semantic? structural?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 Readability: the system have to check sentence length and its complexity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output specified: score, warning, highlights, report?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language specified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threshold for what counts as too long or too complex</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definition of how complexity is measured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 Readability: the system have to check sentence length and its complexity</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Can be partially conflicting with: "The system shall evaluate the readability of the text and provide a readability score by analyzing sentence length, word complexity, and text structure." Complexity can also differ from language to language.</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1097280"/>
          </a:xfrm>
          <a:prstGeom prst="rect">
            <a:avLst/>
          </a:prstGeom>
          <a:solidFill>
            <a:srgbClr val="E8F4FD"/>
          </a:solidFill>
          <a:ln/>
        </p:spPr>
        <p:txBody>
          <a:bodyPr/>
          <a:lstStyle/>
          <a:p>
            <a:endParaRPr lang="en-US"/>
          </a:p>
        </p:txBody>
      </p:sp>
      <p:sp>
        <p:nvSpPr>
          <p:cNvPr id="11" name="Text 9"/>
          <p:cNvSpPr/>
          <p:nvPr/>
        </p:nvSpPr>
        <p:spPr>
          <a:xfrm>
            <a:off x="457200" y="2743200"/>
            <a:ext cx="8229600" cy="10058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evaluate the readability of English texts by measuring: (1) the number of words in each sentence, and (2) the number of subordinate clauses in each sentence. The system shall assign a readability score from 0 to 100 and highlight all sentences longer than 25 words or containing more than 2 subordinate clauses.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 Readability: the system have to check sentence length and its complexity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measure the length of each sentence as the number of words it contains.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measure sentence syntactic complexity as the number of subordinate clauses contained in each sentence.</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assign a readability score from 0 to 100 based on sentence length and syntactic complexity.</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highlight sentences longer than 25 words or containing more than 2 subordinate clauses in the analysis report.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2. Suggestion: the system have to give suggestion on correction on weak part of the text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"suggestion" – what kind? vocabulary, grammar, style, restructuring?</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"correction" – corrections of what? spelling errors, grammar, logic?</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"weak part" – how is weakness defined? low readability? repetition? poor structure?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"give" – how? inline highlight, side panel, pop-up, report section?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2. Suggestion: the system have to give suggestion on correction on weak part of the text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definition of what makes a part of the text "weak"</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how suggestions are displayed to the user</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languages supported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priority or severity level for suggestions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2. Suggestion: the system have to give suggestion on correction on weak part of the text</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May overlap with requirement: "The system should highlight paragraphs that could be improved...and suggest improvements." Both address suggestions but define scope differently.</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identify text segments scoring below a configurable quality threshold (based on readability score, sentence length, and vocabulary repetition) and display inline improvement suggestions including vocabulary alternatives, sentence restructuring, and grammar corrections.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2. Suggestion: the system have to give suggestion on correction on weak part of the text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identify sentences with a readability score below the configurable threshold.</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suggest vocabulary alternatives for words flagged as overused or overly complex.</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suggest restructuring for sentences exceeding 25 words.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display all suggestions as inline annotations linked to the affected text segment.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3. Plot Coherence: the system has to find the key facts of the text and check if there is coherence among it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"key facts" – what counts as a key fact? characters, events, dates, locations?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"coherence" – what type? chronological, logical, character consistency?</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"check" – how? automated scoring, manual flagging, visual map?</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"among it" – grammatically ambiguous; coherence among what exactly?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3. Plot Coherence: the system has to find the key facts of the text and check if there is coherence among it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definition of how key facts are extracted (NLP, user-defined, etc.)</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output format specified (score, report, visual map)</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threshold for what constitutes an incoherence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how contradictions are reported to the user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3. Plot Coherence: the system has to find the key facts of the text and check if there is coherence among it</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May conflict with "Character Interaction Map" and "Sentiment/Tone Analysis" requirements, as all three analyze narrative elements but with undefined boundaries.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extract named entities (characters, locations, events) and their relationships from the manuscript, then detect logical contradictions or chronological inconsistencies and report them in a coherence report with severity ratings.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3. Plot Coherence: the system has to find the key facts of the text and check if there is coherence among it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extract named entities (characters, locations, events, dates) from the manuscript text.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build a relationship graph linking entities to the scenes/chapters where they appear.</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detect contradictions (e.g., a character appearing after being removed from the story) and flag them as coherence errors.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generate a coherence report listing each detected issue with its location, severity (high/medium/low), and a description.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4. The system shall evaluate the readability of the text and provide a readability score by analyzing sentence length, word complexity, and text structure.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"readability score" – what scale? 0-100? Flesch-Kincaid grade?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"word complexity" – syllable count? frequency in language? domain-specific?</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"text structure" – paragraph length? heading usage? section organization?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4. The system shall evaluate the readability of the text and provide a readability score by analyzing sentence length, word complexity, and text structure.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 formula or algorithm identified (Flesch, Gunning Fog, etc.)</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language specification (English only or multilingual?)</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output format (number, grade level, label like "easy/medium/hard")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how the score is displayed to the user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4. The system shall evaluate the readability of the text and provide a readability score by analyzing sentence length, word complexity, and text structure.</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Partially overlaps with "Readability: the system have to check sentence length and its complexity" – both address the same concept with different levels of precision.</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compute a readability score from 0 to 100 for each uploaded text using the Flesch Reading Ease formula, based on average sentence length (words per sentence) and average syllable count per word, and display the score alongside a grade label (Easy / Moderate / Difficult).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4. The system shall evaluate the readability of the text and provide a readability score by analyzing sentence length, word complexity, and text structure.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calculate the average number of words per sentence in the uploaded text.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calculate the average number of syllables per word in the uploaded text.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compute a Flesch Reading Ease score from 0 to 100 using the calculated averages.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display the readability score with a corresponding label: Easy (&gt;=70), Moderate (50-69), Difficult (&lt;50).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5. The system shall detect sentence length problems by measuring the number of words in each sentence and identifying extremes.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"problems" – what constitutes a problem? too long? too short? both?</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"extremes" – no threshold defined; extreme compared to what baseline?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"measuring" – automatic or requiring user action?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5. The system shall detect sentence length problems by measuring the number of words in each sentence and identifying extremes.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thresholds for what counts as too long or too short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indication of how results are presented (highlight, report, count)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whether the user can configure thresholds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5. The system shall detect sentence length problems by measuring the number of words in each sentence and identifying extremes.</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Overlaps with the readability requirement since both measure sentence length, risking duplicate analysis.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640080"/>
          </a:xfrm>
          <a:prstGeom prst="rect">
            <a:avLst/>
          </a:prstGeom>
          <a:solidFill>
            <a:srgbClr val="E8F4FD"/>
          </a:solidFill>
          <a:ln/>
        </p:spPr>
        <p:txBody>
          <a:bodyPr/>
          <a:lstStyle/>
          <a:p>
            <a:endParaRPr lang="en-US"/>
          </a:p>
        </p:txBody>
      </p:sp>
      <p:sp>
        <p:nvSpPr>
          <p:cNvPr id="11" name="Text 9"/>
          <p:cNvSpPr/>
          <p:nvPr/>
        </p:nvSpPr>
        <p:spPr>
          <a:xfrm>
            <a:off x="457200" y="2743200"/>
            <a:ext cx="8229600" cy="5486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flag any sentence with fewer than 5 words or more than 40 words, highlighting it in the text and categorizing it as "too short" or "too long" in the analysis report.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5. The system shall detect sentence length problems by measuring the number of words in each sentence and identifying extremes.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count the number of words in each sentence of the uploaded text.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flag sentences with fewer than 5 words as "too short."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flag sentences with more than 40 words as "too long."</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highlight flagged sentences in the text view and list them in the analysis report with their word count.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6. The system shall allow users to export the report by providing options in formats such as PDF, TXT, and DOCX.</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7315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"such as" – implies the list is not exhaustive; which formats are mandatory?</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"report" – which report? the full analysis? a summary? all reports?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6. The system shall allow users to export the report by providing options in formats such as PDF, TXT, and DOCX.</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whether formatting/styling is preserved across export types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where the exported file is saved or downloaded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whether charts/visuals are included in exports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6. The system shall allow users to export the report by providing options in formats such as PDF, TXT, and DOCX.</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No direct conflicts with other requirements.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640080"/>
          </a:xfrm>
          <a:prstGeom prst="rect">
            <a:avLst/>
          </a:prstGeom>
          <a:solidFill>
            <a:srgbClr val="E8F4FD"/>
          </a:solidFill>
          <a:ln/>
        </p:spPr>
        <p:txBody>
          <a:bodyPr/>
          <a:lstStyle/>
          <a:p>
            <a:endParaRPr lang="en-US"/>
          </a:p>
        </p:txBody>
      </p:sp>
      <p:sp>
        <p:nvSpPr>
          <p:cNvPr id="11" name="Text 9"/>
          <p:cNvSpPr/>
          <p:nvPr/>
        </p:nvSpPr>
        <p:spPr>
          <a:xfrm>
            <a:off x="457200" y="2743200"/>
            <a:ext cx="8229600" cy="5486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allow users to export the complete analysis report in PDF, TXT, and DOCX formats via a download button, preserving all text content, tables, and charts in PDF and DOCX exports.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6. The system shall allow users to export the report by providing options in formats such as PDF, TXT, and DOCX.</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provide an export button on the report view page.</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support exporting the report in PDF, TXT, and DOCX formats.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preserve text content, tables, and visual charts in PDF and DOCX exports.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trigger a browser download of the exported file upon user request.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7. Character Interaction Map: A visual matrix showing which characters appear together and their distribution throughout the timeline.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"visual matrix" – what kind? heatmap, graph, table, network diagram?</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"appear together" – same chapter? same scene? same paragraph? same sentence?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"timeline" – what defines the timeline? chapters, pages, word count?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"distribution" – frequency of co-occurrence? total scene count?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7. Character Interaction Map: A visual matrix showing which characters appear together and their distribution throughout the timeline.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definition of how characters are identified (user-defined list or auto-detected)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interactivity (clickable? filterable? zoomable?)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export or save option mentioned for the map</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7. Character Interaction Map: A visual matrix showing which characters appear together and their distribution throughout the timeline.</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Partially overlaps with Plot Coherence requirement, as both analyze character presence across the narrative.</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automatically detect character names (proper nouns appearing 3+ times) and generate an interactive co-occurrence matrix showing how often each pair of characters appears in the same chapter, displayed as a heatmap with chapter-based timeline filtering.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7. Character Interaction Map: A visual matrix showing which characters appear together and their distribution throughout the timeline.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detect character names as proper nouns appearing 3 or more times in the manuscript.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calculate the co-occurrence count for each pair of characters per chapter.</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display the co-occurrence data as a heatmap matrix with characters on both axes.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allow users to filter the heatmap by chapter range using a timeline slider.</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8. Sentiment/Tone Analysis: Tracking the emotional arc of scenes to ensure the "mood" aligns with the narrative intent.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"emotional arc" – what emotions are tracked? joy, sadness, tension, fear?</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"scenes" – how is a scene defined? by chapter? by paragraph break? by user markers?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"narrative intent" – who defines intent? the author? the system?</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"aligns" – how is alignment measured?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8. Sentiment/Tone Analysis: Tracking the emotional arc of scenes to ensure the "mood" aligns with the narrative intent.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emotion categories or sentiment scale defined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how "narrative intent" is captured (user input? genre rules?)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output format (chart, report, per-scene labels)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which NLP model or technique is used</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8. Sentiment/Tone Analysis: Tracking the emotional arc of scenes to ensure the "mood" aligns with the narrative intent.</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May conflict with Plot Coherence since both analyze narrative flow but from different perspectives (emotion vs. facts).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perform sentiment analysis on each chapter, classifying the dominant tone as positive, negative, or neutral with a confidence score from 0 to 1, and display the results as a line chart showing the emotional arc across the full manuscript.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8. Sentiment/Tone Analysis: Tracking the emotional arc of scenes to ensure the "mood" aligns with the narrative intent.</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divide the manuscript into chapters (based on heading markers or user-defined breaks).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classify the dominant sentiment of each chapter as positive, negative, or neutral with a confidence score (0 to 1).</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display a line chart plotting sentiment scores across chapters to visualize the emotional arc.</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allow users to click on any data point in the chart to view the corresponding chapter text and sentiment details.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9. Count the occurrence of each word to detect and signal repetitions and overused vocabulary.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"each word" – does this include stop words (the, a, is)? case-sensitive?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"signal" – how? popup, color coding, report section?</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"overused" – compared to what baseline? absolute count? percentage?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"repetitions" – exact matches only, or also synonyms/lemmas?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9. Count the occurrence of each word to detect and signal repetitions and overused vocabulary.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threshold for when a word is considered overused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exclusion list for common/stop words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the output or visualization</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Missing: should the system suggest synonyms?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9. Count the occurrence of each word to detect and signal repetitions and overused vocabulary.</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Overlaps with the Suggestion requirement, which also may flag vocabulary issues.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count occurrences of each word (excluding a predefined stop-word list), normalize by lemma and case, flag words appearing more than 0.5% of total word count as overused, and display results in a frequency table sorted by count with synonym suggestions.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9. Count the occurrence of each word to detect and signal repetitions and overused vocabulary.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tokenize the text and count each word occurrence, case-insensitive and lemmatized.</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exclude common stop words (defined in a configurable stop-word list) from the count.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flag words exceeding 0.5% of total word count as "overused."</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display a frequency table of flagged words with count, percentage, and synonym suggestions.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10. The system should highlight paragraphs that could be improved, based on the previous analysis, and suggest improvements like vocabulary alternatives, dividing long phrases into shorter ones, formatting.</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"previous analysis" – which analysis? all of them combined? a specific one?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"could be improved" – by what criteria? score threshold?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"formatting" – what kind? paragraph spacing? heading hierarchy? bullet lists?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"highlight" – how? color, underline, sidebar marker?</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10. The system should highlight paragraphs that could be improved, based on the previous analysis, and suggest improvements like vocabulary alternatives, dividing long phrases into shorter ones, formatting.</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threshold for triggering improvement suggestions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prioritization of suggestions (which to show first)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whether the user can accept/reject suggestions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how suggestions are generated (rule-based, AI-based)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10. The system should highlight paragraphs that could be improved, based on the previous analysis, and suggest improvements like vocabulary alternatives, dividing long phrases into shorter ones, formatting.</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Directly overlaps with the "Suggestion" requirement – both promise text improvement suggestions with unclear scope boundaries.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1097280"/>
          </a:xfrm>
          <a:prstGeom prst="rect">
            <a:avLst/>
          </a:prstGeom>
          <a:solidFill>
            <a:srgbClr val="E8F4FD"/>
          </a:solidFill>
          <a:ln/>
        </p:spPr>
        <p:txBody>
          <a:bodyPr/>
          <a:lstStyle/>
          <a:p>
            <a:endParaRPr lang="en-US"/>
          </a:p>
        </p:txBody>
      </p:sp>
      <p:sp>
        <p:nvSpPr>
          <p:cNvPr id="11" name="Text 9"/>
          <p:cNvSpPr/>
          <p:nvPr/>
        </p:nvSpPr>
        <p:spPr>
          <a:xfrm>
            <a:off x="457200" y="2743200"/>
            <a:ext cx="8229600" cy="10058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highlight paragraphs scoring below the 30th percentile across readability, repetition, and sentence-length analyses, and display a prioritized list of improvement suggestions (vocabulary alternatives, sentence splitting, formatting changes) in a side panel, allowing users to accept or dismiss each suggestion.</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10. The system should highlight paragraphs that could be improved, based on the previous analysis, and suggest improvements like vocabulary alternatives, dividing long phrases into shorter ones, formatting.</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compute a composite quality score for each paragraph based on readability, repetition, and sentence length metrics.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highlight paragraphs scoring below the 30th percentile with a yellow background.</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generate improvement suggestions for each highlighted paragraph, including vocabulary alternatives and sentence splitting options.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display suggestions in a side panel and allow users to accept or dismiss each suggestion individually.</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11. Security: the user session have to be isolated of others session</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"isolated" – data isolation? process isolation? network isolation?</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"session" – browser session? server-side session? authentication context?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"others session" – other users, or other sessions of the same user?</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11. Security: the user session have to be isolated of others session</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isolation mechanism (tokens, sandboxing, separate DB schemas)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session timeout or expiration policy</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authentication method (login, OAuth, SSO)</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authorization or role-based access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11. Security: the user session have to be isolated of others session</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Related to "The system shall ensure database security by storing data in an encrypted format" – both address security but at different layers (session vs. storage).</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enforce session isolation by assigning each authenticated user a unique session token, ensuring that no user can access, modify, or view the data or analysis results of another user's session.</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11. Security: the user session have to be isolated of others session</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assign a unique, cryptographically random session token to each authenticated user upon login.</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validate the session token on every API request and reject requests with invalid or expired tokens.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ensure that each user’s uploaded texts and analysis results are accessible only through their own authenticated session.</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expire user sessions after 30 minutes of inactivity.</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12. Language support: the system support text in many languages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"many languages" – how many? which ones? top 10 by speakers? EU languages?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"support" – support for what? input, analysis, UI, export?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"text" – all features work in all languages, or only basic ones?</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12. Language support: the system support text in many languages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list of supported languages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which features work per language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character encoding requirements (UTF-8, etc.)</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fallback behavior for unsupported languages</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12. Language support: the system support text in many languages</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May conflict with readability and NLP features that may only work accurately in English, creating a gap between claimed support and actual capability.</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support text analysis in English, Italian, Spanish, French, and German. For each supported language, the system shall provide readability scoring, sentence length detection, and word frequency counting. Unsupported languages shall trigger a clear error message.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12. Language support: the system support text in many languages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accept text input in English, Italian, Spanish, French, and German (UTF-8 encoding).</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apply language-specific readability formulas for each supported language.</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use language-specific stop-word lists and lemmatization for word frequency counting.</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display an error message "Language not supported" when the detected language is not in the supported list.</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13. The system shall provide a simple and user friendly interface by allowing users to complete main actions (upload, analyze, export) in no more than 3 steps.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"simple and user friendly" – subjective; cannot be tested objectively</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"3 steps" – what counts as a step? a click? a page navigation? a form submission?</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"main actions" – are upload, analyze, and export the only main actions?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13. The system shall provide a simple and user friendly interface by allowing users to complete main actions (upload, analyze, export) in no more than 3 steps.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accessibility requirements (WCAG level)</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supported browsers or devices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responsive design for mobile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error-handling UX requirements</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13. The system shall provide a simple and user friendly interface by allowing users to complete main actions (upload, analyze, export) in no more than 3 steps.</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No direct conflicts, but the 3-step constraint may conflict with complex features like Character Interaction Map configuration.</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allow users to complete the upload-analyze-export workflow in no more than 3 user interactions (clicks or form submissions). The interface shall conform to WCAG 2.1 AA accessibility standards and support Chrome, Firefox, Safari, and Edge.</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13. The system shall provide a simple and user friendly interface by allowing users to complete main actions (upload, analyze, export) in no more than 3 steps.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allow users to upload a document in one click (file picker or drag-and-drop).</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start analysis with one click after upload, with no additional configuration required.</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allow report export in one click from the results page.</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conform to WCAG 2.1 Level AA accessibility standards.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14. The system shall ensure database security by storing data in an encrypted format and restricting access to authorized users only.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"encrypted format" – what encryption? AES-256? at rest? in transit? both?</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"authorized users" – authorized how? by role? by account ownership?</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"restricting access" – at the database level? application level? API level?</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14. The system shall ensure database security by storing data in an encrypted format and restricting access to authorized users only.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encryption algorithm or key management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data backup encryption</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audit logging requirements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data retention or deletion policy</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14. The system shall ensure database security by storing data in an encrypted format and restricting access to authorized users only.</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Complements but may overlap with session isolation requirement – need clear boundary between session-level and storage-level security.</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encrypt all stored user data at rest using AES-256 encryption, manage encryption keys through a dedicated key management service, and enforce role-based access control (RBAC) so that each user can only access their own data.</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14. The system shall ensure database security by storing data in an encrypted format and restricting access to authorized users only.</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encrypt all user data at rest using AES-256 encryption.</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manage encryption keys using a dedicated key management service (e.g., AWS KMS or equivalent).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enforce role-based access control, restricting each user to their own data.</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log all data access events for audit purposes, including user ID, timestamp, and action performed.</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15. Performance: The system must analyze a standard 100,000-word .docx or .txt manuscript and generate the final diagnostic report in under 360 seconds.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"standard" – what makes a manuscript standard? plain text? with images? with tables?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"final diagnostic report" – which analyses does this include? all of them?</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"analyze" – does this include all analysis types or a specific subset?</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15. Performance: The system must analyze a standard 100,000-word .docx or .txt manuscript and generate the final diagnostic report in under 360 seconds.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hardware/infrastructure baseline for the 360s target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concurrent user load during performance measurement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degradation behavior defined (what happens if it exceeds 360s?)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progress feedback to the user during analysis</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15. Performance: The system must analyze a standard 100,000-word .docx or .txt manuscript and generate the final diagnostic report in under 360 seconds.</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May conflict with the scope of analyses – adding more features (sentiment, character map) increases processing time and may make 360s infeasible.</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must complete all enabled analyses (readability, sentence length, word frequency, coherence, sentiment) on a 100,000-word plain-text .docx or .txt file and render the diagnostic report in under 360 seconds, measured on a single instance with 4 vCPUs and 8 GB RAM under single-user load.</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15. Performance: The system must analyze a standard 100,000-word .docx or .txt manuscript and generate the final diagnostic report in under 360 seconds.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complete all enabled analyses on a 100,000-word document in under 360 seconds.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performance target shall be measured on a single containerized instance with 4 vCPUs and 8 GB RAM.</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display a progress indicator during analysis showing estimated time remaining.</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If analysis exceeds 360 seconds, the system shall log a performance warning and still deliver partial results.</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16. Portability: The application must be fully containerized (e.g., using Docker) to allow seamless deployment and migration across major cloud providers (such as AWS or Google Cloud) without modifying the application source code.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"fully containerized" – single container or multi-container (Docker Compose, K8s)?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"seamless" – subjective; zero downtime? no manual steps?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"major cloud providers" – which ones specifically? AWS, GCP, Azure?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"without modifying the application source code" – configuration changes allowed?</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16. Portability: The application must be fully containerized (e.g., using Docker) to allow seamless deployment and migration across major cloud providers (such as AWS or Google Cloud) without modifying the application source code.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specification of container runtime (Docker, Podman, containerd)</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environment configuration (env vars, config files)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CI/CD pipeline requirements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data persistence across migrations</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16. Portability: The application must be fully containerized (e.g., using Docker) to allow seamless deployment and migration across major cloud providers (such as AWS or Google Cloud) without modifying the application source code.</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No direct conflicts, but the performance requirement (360s) must be validated across different cloud environments.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application shall be packaged as a Docker container image compatible with Docker Engine 20+, deployable on AWS ECS, Google Cloud Run, and Azure Container Instances using only environment variables for configuration, with no source code changes required between providers.</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16. Portability: The application must be fully containerized (e.g., using Docker) to allow seamless deployment and migration across major cloud providers (such as AWS or Google Cloud) without modifying the application source code.</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application shall be packaged as a single Docker container image using a Dockerfile in the project repository.</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container image shall run on Docker Engine 20+ and be compatible with AWS ECS, Google Cloud Run, and Azure Container Instances.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All environment-specific settings (database URL, API keys, ports) shall be configurable via environment variables.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project shall include a docker-compose.yml for local development and testing.</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17. The system should allow users to share their work with other registered users.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0000"/>
                </a:solidFill>
                <a:latin typeface="Arial" pitchFamily="34" charset="0"/>
                <a:ea typeface="Arial" pitchFamily="34" charset="-122"/>
                <a:cs typeface="Arial" pitchFamily="34" charset="-120"/>
              </a:rPr>
              <a:t>AMBIGUITY</a:t>
            </a:r>
            <a:endParaRPr lang="en-US" sz="1600" dirty="0"/>
          </a:p>
        </p:txBody>
      </p:sp>
      <p:sp>
        <p:nvSpPr>
          <p:cNvPr id="7" name="Text 5"/>
          <p:cNvSpPr/>
          <p:nvPr/>
        </p:nvSpPr>
        <p:spPr>
          <a:xfrm>
            <a:off x="457200" y="1828800"/>
            <a:ext cx="8229600" cy="96012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"share" – share what? the text? the analysis report? both? read-only or editable?</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"work" – uploaded manuscripts? generated reports? settings/configurations?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"other registered users" – by email? by username? anyone on the platform?</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17. The system should allow users to share their work with other registered users.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FF6600"/>
                </a:solidFill>
                <a:latin typeface="Arial" pitchFamily="34" charset="0"/>
                <a:ea typeface="Arial" pitchFamily="34" charset="-122"/>
                <a:cs typeface="Arial" pitchFamily="34" charset="-120"/>
              </a:rPr>
              <a:t>INCOMPLETENESS</a:t>
            </a:r>
            <a:endParaRPr lang="en-US" sz="1600" dirty="0"/>
          </a:p>
        </p:txBody>
      </p:sp>
      <p:sp>
        <p:nvSpPr>
          <p:cNvPr id="7" name="Text 5"/>
          <p:cNvSpPr/>
          <p:nvPr/>
        </p:nvSpPr>
        <p:spPr>
          <a:xfrm>
            <a:off x="457200" y="1828800"/>
            <a:ext cx="8229600" cy="1280160"/>
          </a:xfrm>
          <a:prstGeom prst="rect">
            <a:avLst/>
          </a:prstGeom>
          <a:noFill/>
          <a:ln/>
        </p:spPr>
        <p:txBody>
          <a:bodyPr wrap="square" rtlCol="0" anchor="t"/>
          <a:lstStyle/>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permission model defined (view only, edit, comment)</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sharing mechanism (link, invite, search users)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mention of revoking shared access</a:t>
            </a:r>
            <a:endParaRPr lang="en-US" sz="1300" dirty="0"/>
          </a:p>
          <a:p>
            <a:pPr marL="342900" indent="-342900">
              <a:spcAft>
                <a:spcPts val="400"/>
              </a:spcAft>
              <a:buSzPct val="100000"/>
              <a:buChar char="–"/>
            </a:pPr>
            <a:r>
              <a:rPr lang="en-US" sz="1300" dirty="0">
                <a:solidFill>
                  <a:srgbClr val="333333"/>
                </a:solidFill>
                <a:latin typeface="Arial" pitchFamily="34" charset="0"/>
                <a:ea typeface="Arial" pitchFamily="34" charset="-122"/>
                <a:cs typeface="Arial" pitchFamily="34" charset="-120"/>
              </a:rPr>
              <a:t>No notification system for when content is shared with a user</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17. The system should allow users to share their work with other registered users.</a:t>
            </a:r>
            <a:endParaRPr lang="en-US" sz="1300" dirty="0"/>
          </a:p>
        </p:txBody>
      </p:sp>
      <p:sp>
        <p:nvSpPr>
          <p:cNvPr id="6" name="Text 4"/>
          <p:cNvSpPr/>
          <p:nvPr/>
        </p:nvSpPr>
        <p:spPr>
          <a:xfrm>
            <a:off x="365760" y="1371600"/>
            <a:ext cx="2743200" cy="365760"/>
          </a:xfrm>
          <a:prstGeom prst="rect">
            <a:avLst/>
          </a:prstGeom>
          <a:noFill/>
          <a:ln/>
        </p:spPr>
        <p:txBody>
          <a:bodyPr wrap="square" rtlCol="0" anchor="ctr"/>
          <a:lstStyle/>
          <a:p>
            <a:pPr marL="0" indent="0">
              <a:buNone/>
            </a:pPr>
            <a:r>
              <a:rPr lang="en-US" sz="1600" b="1" dirty="0">
                <a:solidFill>
                  <a:srgbClr val="CC0066"/>
                </a:solidFill>
                <a:latin typeface="Arial" pitchFamily="34" charset="0"/>
                <a:ea typeface="Arial" pitchFamily="34" charset="-122"/>
                <a:cs typeface="Arial" pitchFamily="34" charset="-120"/>
              </a:rPr>
              <a:t>Conflictual</a:t>
            </a:r>
            <a:endParaRPr lang="en-US" sz="1600" dirty="0"/>
          </a:p>
        </p:txBody>
      </p:sp>
      <p:sp>
        <p:nvSpPr>
          <p:cNvPr id="7" name="Text 5"/>
          <p:cNvSpPr/>
          <p:nvPr/>
        </p:nvSpPr>
        <p:spPr>
          <a:xfrm>
            <a:off x="457200" y="1783080"/>
            <a:ext cx="8229600" cy="457200"/>
          </a:xfrm>
          <a:prstGeom prst="rect">
            <a:avLst/>
          </a:prstGeom>
          <a:noFill/>
          <a:ln/>
        </p:spPr>
        <p:txBody>
          <a:bodyPr wrap="square" rtlCol="0" anchor="ctr"/>
          <a:lstStyle/>
          <a:p>
            <a:pPr marL="0" indent="0">
              <a:buNone/>
            </a:pPr>
            <a:r>
              <a:rPr lang="en-US" sz="1200" dirty="0">
                <a:solidFill>
                  <a:srgbClr val="333333"/>
                </a:solidFill>
                <a:latin typeface="Arial" pitchFamily="34" charset="0"/>
                <a:ea typeface="Arial" pitchFamily="34" charset="-122"/>
                <a:cs typeface="Arial" pitchFamily="34" charset="-120"/>
              </a:rPr>
              <a:t>May conflict with session isolation requirement ("user session have to be isolated") – sharing inherently requires cross-session data access.</a:t>
            </a:r>
            <a:endParaRPr lang="en-US" sz="1200" dirty="0"/>
          </a:p>
        </p:txBody>
      </p:sp>
      <p:sp>
        <p:nvSpPr>
          <p:cNvPr id="8" name="Text 6"/>
          <p:cNvSpPr/>
          <p:nvPr/>
        </p:nvSpPr>
        <p:spPr>
          <a:xfrm>
            <a:off x="365760" y="2286000"/>
            <a:ext cx="2743200" cy="365760"/>
          </a:xfrm>
          <a:prstGeom prst="rect">
            <a:avLst/>
          </a:prstGeom>
          <a:noFill/>
          <a:ln/>
        </p:spPr>
        <p:txBody>
          <a:bodyPr wrap="square" rtlCol="0" anchor="ctr"/>
          <a:lstStyle/>
          <a:p>
            <a:pPr marL="0" indent="0">
              <a:buNone/>
            </a:pPr>
            <a:r>
              <a:rPr lang="en-US" sz="1600" b="1" dirty="0">
                <a:solidFill>
                  <a:srgbClr val="0066CC"/>
                </a:solidFill>
                <a:latin typeface="Arial" pitchFamily="34" charset="0"/>
                <a:ea typeface="Arial" pitchFamily="34" charset="-122"/>
                <a:cs typeface="Arial" pitchFamily="34" charset="-120"/>
              </a:rPr>
              <a:t>How to modify it?</a:t>
            </a:r>
            <a:endParaRPr lang="en-US" sz="1600" dirty="0"/>
          </a:p>
        </p:txBody>
      </p:sp>
      <p:sp>
        <p:nvSpPr>
          <p:cNvPr id="9" name="Shape 7"/>
          <p:cNvSpPr/>
          <p:nvPr/>
        </p:nvSpPr>
        <p:spPr>
          <a:xfrm>
            <a:off x="365760" y="2697480"/>
            <a:ext cx="8412480" cy="914400"/>
          </a:xfrm>
          <a:prstGeom prst="rect">
            <a:avLst/>
          </a:prstGeom>
          <a:solidFill>
            <a:srgbClr val="E8F4FD"/>
          </a:solidFill>
          <a:ln/>
        </p:spPr>
        <p:txBody>
          <a:bodyPr/>
          <a:lstStyle/>
          <a:p>
            <a:endParaRPr lang="en-US"/>
          </a:p>
        </p:txBody>
      </p:sp>
      <p:sp>
        <p:nvSpPr>
          <p:cNvPr id="10" name="Shape 8"/>
          <p:cNvSpPr/>
          <p:nvPr/>
        </p:nvSpPr>
        <p:spPr>
          <a:xfrm>
            <a:off x="365760" y="2697480"/>
            <a:ext cx="8412480" cy="868680"/>
          </a:xfrm>
          <a:prstGeom prst="rect">
            <a:avLst/>
          </a:prstGeom>
          <a:solidFill>
            <a:srgbClr val="E8F4FD"/>
          </a:solidFill>
          <a:ln/>
        </p:spPr>
        <p:txBody>
          <a:bodyPr/>
          <a:lstStyle/>
          <a:p>
            <a:endParaRPr lang="en-US"/>
          </a:p>
        </p:txBody>
      </p:sp>
      <p:sp>
        <p:nvSpPr>
          <p:cNvPr id="11" name="Text 9"/>
          <p:cNvSpPr/>
          <p:nvPr/>
        </p:nvSpPr>
        <p:spPr>
          <a:xfrm>
            <a:off x="457200" y="2743200"/>
            <a:ext cx="8229600" cy="777240"/>
          </a:xfrm>
          <a:prstGeom prst="rect">
            <a:avLst/>
          </a:prstGeom>
          <a:noFill/>
          <a:ln/>
        </p:spPr>
        <p:txBody>
          <a:bodyPr wrap="square" rtlCol="0" anchor="t"/>
          <a:lstStyle/>
          <a:p>
            <a:pPr marL="0" indent="0">
              <a:buNone/>
            </a:pPr>
            <a:r>
              <a:rPr lang="en-US" sz="1200" i="1" dirty="0">
                <a:solidFill>
                  <a:srgbClr val="1A5276"/>
                </a:solidFill>
                <a:latin typeface="Arial" pitchFamily="34" charset="0"/>
                <a:ea typeface="Arial" pitchFamily="34" charset="-122"/>
                <a:cs typeface="Arial" pitchFamily="34" charset="-120"/>
              </a:rPr>
              <a:t>The system shall allow users to share their analysis reports with other registered users by entering the recipient's email address, granting read-only access. The sharing user shall be able to revoke access at any time.</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3F51B5"/>
          </a:solidFill>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RE - Analysis</a:t>
            </a:r>
            <a:endParaRPr lang="en-US" sz="2200" dirty="0"/>
          </a:p>
        </p:txBody>
      </p:sp>
      <p:sp>
        <p:nvSpPr>
          <p:cNvPr id="4" name="Shape 2"/>
          <p:cNvSpPr/>
          <p:nvPr/>
        </p:nvSpPr>
        <p:spPr>
          <a:xfrm>
            <a:off x="274320" y="777240"/>
            <a:ext cx="8595360" cy="502920"/>
          </a:xfrm>
          <a:prstGeom prst="rect">
            <a:avLst/>
          </a:prstGeom>
          <a:solidFill>
            <a:srgbClr val="F0F0F0"/>
          </a:solidFill>
          <a:ln/>
        </p:spPr>
        <p:txBody>
          <a:bodyPr/>
          <a:lstStyle/>
          <a:p>
            <a:endParaRPr lang="en-US"/>
          </a:p>
        </p:txBody>
      </p:sp>
      <p:sp>
        <p:nvSpPr>
          <p:cNvPr id="5" name="Text 3"/>
          <p:cNvSpPr/>
          <p:nvPr/>
        </p:nvSpPr>
        <p:spPr>
          <a:xfrm>
            <a:off x="365760" y="777240"/>
            <a:ext cx="8412480" cy="502920"/>
          </a:xfrm>
          <a:prstGeom prst="rect">
            <a:avLst/>
          </a:prstGeom>
          <a:noFill/>
          <a:ln/>
        </p:spPr>
        <p:txBody>
          <a:bodyPr wrap="square" rtlCol="0" anchor="ctr"/>
          <a:lstStyle/>
          <a:p>
            <a:pPr marL="0" indent="0">
              <a:buNone/>
            </a:pPr>
            <a:r>
              <a:rPr lang="en-US" sz="1300" b="1" dirty="0">
                <a:solidFill>
                  <a:srgbClr val="333333"/>
                </a:solidFill>
                <a:latin typeface="Arial" pitchFamily="34" charset="0"/>
                <a:ea typeface="Arial" pitchFamily="34" charset="-122"/>
                <a:cs typeface="Arial" pitchFamily="34" charset="-120"/>
              </a:rPr>
              <a:t>17. The system should allow users to share their work with other registered users.</a:t>
            </a:r>
            <a:endParaRPr lang="en-US" sz="1300" dirty="0"/>
          </a:p>
        </p:txBody>
      </p:sp>
      <p:sp>
        <p:nvSpPr>
          <p:cNvPr id="6" name="Text 4"/>
          <p:cNvSpPr/>
          <p:nvPr/>
        </p:nvSpPr>
        <p:spPr>
          <a:xfrm>
            <a:off x="365760" y="1417320"/>
            <a:ext cx="2743200" cy="365760"/>
          </a:xfrm>
          <a:prstGeom prst="rect">
            <a:avLst/>
          </a:prstGeom>
          <a:noFill/>
          <a:ln/>
        </p:spPr>
        <p:txBody>
          <a:bodyPr wrap="square" rtlCol="0" anchor="ctr"/>
          <a:lstStyle/>
          <a:p>
            <a:pPr marL="0" indent="0">
              <a:buNone/>
            </a:pPr>
            <a:r>
              <a:rPr lang="en-US" sz="1600" b="1" dirty="0">
                <a:solidFill>
                  <a:srgbClr val="228B22"/>
                </a:solidFill>
                <a:latin typeface="Arial" pitchFamily="34" charset="0"/>
                <a:ea typeface="Arial" pitchFamily="34" charset="-122"/>
                <a:cs typeface="Arial" pitchFamily="34" charset="-120"/>
              </a:rPr>
              <a:t>SPLIT – Atomicity</a:t>
            </a:r>
            <a:endParaRPr lang="en-US" sz="1600" dirty="0"/>
          </a:p>
        </p:txBody>
      </p:sp>
      <p:sp>
        <p:nvSpPr>
          <p:cNvPr id="7" name="Text 5"/>
          <p:cNvSpPr/>
          <p:nvPr/>
        </p:nvSpPr>
        <p:spPr>
          <a:xfrm>
            <a:off x="457200" y="1828800"/>
            <a:ext cx="8229600" cy="320040"/>
          </a:xfrm>
          <a:prstGeom prst="rect">
            <a:avLst/>
          </a:prstGeom>
          <a:noFill/>
          <a:ln/>
        </p:spPr>
        <p:txBody>
          <a:bodyPr wrap="square" rtlCol="0" anchor="ctr"/>
          <a:lstStyle/>
          <a:p>
            <a:pPr marL="0" indent="0">
              <a:buNone/>
            </a:pPr>
            <a:r>
              <a:rPr lang="en-US" sz="1200" i="1" dirty="0">
                <a:solidFill>
                  <a:srgbClr val="333333"/>
                </a:solidFill>
                <a:latin typeface="Arial" pitchFamily="34" charset="0"/>
                <a:ea typeface="Arial" pitchFamily="34" charset="-122"/>
                <a:cs typeface="Arial" pitchFamily="34" charset="-120"/>
              </a:rPr>
              <a:t>Too many concepts → break into atomic requirements:</a:t>
            </a:r>
            <a:endParaRPr lang="en-US" sz="1200" dirty="0"/>
          </a:p>
        </p:txBody>
      </p:sp>
      <p:sp>
        <p:nvSpPr>
          <p:cNvPr id="8" name="Text 6"/>
          <p:cNvSpPr/>
          <p:nvPr/>
        </p:nvSpPr>
        <p:spPr>
          <a:xfrm>
            <a:off x="457200" y="2148840"/>
            <a:ext cx="8229600" cy="1170432"/>
          </a:xfrm>
          <a:prstGeom prst="rect">
            <a:avLst/>
          </a:prstGeom>
          <a:noFill/>
          <a:ln/>
        </p:spPr>
        <p:txBody>
          <a:bodyPr wrap="square" rtlCol="0" anchor="t"/>
          <a:lstStyle/>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R1 - The system shall provide a "Share" button on the report view, allowing the user to enter a registered user's email address.</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R2 - The system shall grant the recipient read-only access to the shared report.</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R3 - The system shall allow the original user to revoke shared access at any time from a "Shared With" management panel.</a:t>
            </a:r>
            <a:endParaRPr lang="en-US" sz="1100" dirty="0"/>
          </a:p>
          <a:p>
            <a:pPr marL="342900" indent="-342900">
              <a:spcAft>
                <a:spcPts val="300"/>
              </a:spcAft>
              <a:buSzPct val="100000"/>
              <a:buChar char="–"/>
            </a:pPr>
            <a:r>
              <a:rPr lang="en-US" sz="1100" dirty="0">
                <a:solidFill>
                  <a:srgbClr val="1B5E20"/>
                </a:solidFill>
                <a:latin typeface="Arial" pitchFamily="34" charset="0"/>
                <a:ea typeface="Arial" pitchFamily="34" charset="-122"/>
                <a:cs typeface="Arial" pitchFamily="34" charset="-120"/>
              </a:rPr>
              <a:t>R4 - The system shall send an email notification to the recipient when a report is shared with them.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6280</Words>
  <Application>Microsoft Macintosh PowerPoint</Application>
  <PresentationFormat>On-screen Show (16:9)</PresentationFormat>
  <Paragraphs>539</Paragraphs>
  <Slides>70</Slides>
  <Notes>70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70</vt:i4>
      </vt:variant>
    </vt:vector>
  </HeadingPairs>
  <TitlesOfParts>
    <vt:vector size="7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 - Requirement Engineering Exercise</dc:title>
  <dc:subject>PptxGenJS Presentation</dc:subject>
  <dc:creator>RE Exercise</dc:creator>
  <cp:lastModifiedBy>Domantas Moisejevas</cp:lastModifiedBy>
  <cp:revision>1</cp:revision>
  <dcterms:created xsi:type="dcterms:W3CDTF">2026-03-27T13:56:00Z</dcterms:created>
  <dcterms:modified xsi:type="dcterms:W3CDTF">2026-03-27T13:58:21Z</dcterms:modified>
</cp:coreProperties>
</file>